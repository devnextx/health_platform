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solidFill>
            <a:srgbClr val="6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D1117"/>
                </a:solidFill>
                <a:latin typeface="Segoe UI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6EDF3"/>
                </a:solidFill>
                <a:latin typeface="Segoe UI"/>
              </a:rPr>
              <a:t>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23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78FFF"/>
                </a:solidFill>
                <a:latin typeface="Segoe UI"/>
              </a:rPr>
              <a:t>2026 年新功能全景分析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98CA1"/>
                </a:solidFill>
                <a:latin typeface="Segoe UI"/>
              </a:rPr>
              <a:t>涵盖 IDE端  ·  模型端  ·  GitHub.com端  ·  管理维度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035040"/>
            <a:ext cx="1106424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98CA1"/>
                </a:solidFill>
                <a:latin typeface="Segoe UI"/>
              </a:rPr>
              <a:t>数据来源：github.blog/changelog/2026  ·  涵盖 2026-01 — 2026-03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Segoe UI"/>
              </a:rPr>
              <a:t>目录  / 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05156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9786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Segoe UI"/>
              </a:rPr>
              <a:t>IDE 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98CA1"/>
                </a:solidFill>
                <a:latin typeface="Segoe UI"/>
              </a:rPr>
              <a:t>Visual Studio · JetBrains · Xcode · Eclipse · OpenCode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3230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CF6"/>
                </a:solidFill>
                <a:latin typeface="Segoe UI"/>
              </a:rPr>
              <a:t>模型端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98CA1"/>
                </a:solidFill>
                <a:latin typeface="Segoe UI"/>
              </a:rPr>
              <a:t>GPT-5.x · Claude · Gemini · Grok  模型迭代与上线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6674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38636"/>
                </a:solidFill>
                <a:latin typeface="Segoe UI"/>
              </a:rPr>
              <a:t>GitHub.com 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98CA1"/>
                </a:solidFill>
                <a:latin typeface="Segoe UI"/>
              </a:rPr>
              <a:t>Web UI · Copilot Chat · 编码 Agent · MCP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117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01184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29322"/>
                </a:solidFill>
                <a:latin typeface="Segoe UI"/>
              </a:rPr>
              <a:t>管理维度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98CA1"/>
                </a:solidFill>
                <a:latin typeface="Segoe UI"/>
              </a:rPr>
              <a:t>企业控制面 · 指标与分析 · CLI · 安全与合规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1F6FEB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6EDF3"/>
                </a:solidFill>
                <a:latin typeface="Segoe UI"/>
              </a:rPr>
              <a:t>IDE 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98CA1"/>
                </a:solidFill>
                <a:latin typeface="Segoe UI"/>
              </a:rPr>
              <a:t>多 IDE 协同演进  ·  顶级模型全面铺入开发工具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"/>
              </a:rPr>
              <a:t>01  IDE 端  —  多 IDE 全面扩展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5156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365760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4864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Jan.06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969264"/>
            <a:ext cx="91440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Gemini 3 Flash 上线多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Visual Studio / JetBrains / Xcode / Eclipse 同步支持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免费与付费计划均可使用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914400"/>
            <a:ext cx="365760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914400"/>
            <a:ext cx="54864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58584" y="969264"/>
            <a:ext cx="91440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8584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GPT-5.2-Codex 跨 IDE 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VS / JetBrains / Xcode / Eclipse 全系列可用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提升代码生成与 Agent 上下文质量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7304" y="914400"/>
            <a:ext cx="365760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7304" y="914400"/>
            <a:ext cx="54864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80776" y="969264"/>
            <a:ext cx="91440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0776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OpenCode 平台集成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Copilot 扩展至开源 OpenCode 终端编辑器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多模型选择，轻量开发者友好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99232"/>
            <a:ext cx="365760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999232"/>
            <a:ext cx="54864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0723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2" y="3054096"/>
            <a:ext cx="91440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3035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346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从 Visual Studio 直接委派 Agent 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7490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VS 内一键将 Issue 或任务交由 Coding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032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Agent 执行、提 PR、无需切换浏览器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5112" y="2999232"/>
            <a:ext cx="365760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5112" y="2999232"/>
            <a:ext cx="54864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30723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3054096"/>
            <a:ext cx="91440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58584" y="3035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3346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Claude Opus 4.6 进入全 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37490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VS / JetBrains / Xcode / Eclipse 全系列支持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7992" y="4032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高推理能力模型覆盖主流 IDE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7304" y="2999232"/>
            <a:ext cx="3657600" cy="19202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47304" y="2999232"/>
            <a:ext cx="54864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72384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80776" y="3054096"/>
            <a:ext cx="914400" cy="2560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0776" y="30358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33467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GPT-5.3-Codex 登陆 VS &amp; Mobile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0184" y="374904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Visual Studio 与 GitHub Mobile 同步上线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0184" y="4032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Mobile 端可实时与最新 Codex 对话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8B5CF6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6EDF3"/>
                </a:solidFill>
                <a:latin typeface="Segoe UI"/>
              </a:rPr>
              <a:t>模型端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98CA1"/>
                </a:solidFill>
                <a:latin typeface="Segoe UI"/>
              </a:rPr>
              <a:t>GPT / Claude / Gemini / Grok  多模融合生态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"/>
              </a:rPr>
              <a:t>02  模型端  —  多模型生态快速扩张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5156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969264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GPT-5.2-Codex 正式发布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增强 Agent 上下文管理与 CLI 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Agent 质量与多步骤代码推理大幅提升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914400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969264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Claude Opus 4.6 全面可用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Business / Pro 及以上计划均可使用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Anthropic 旗舰推理模型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914400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914400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25912" y="969264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591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Claude Opus 4.6 快速模式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低延迟 Fast Mode 进入预览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保持高质量同时显著缩短响应时间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24328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624328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2" y="2679192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GPT-5.3-Codex 正式发布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741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OpenAI 最新代码优化模型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6576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全平台（Web / Mobile / IDE）统一体验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624328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2624328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Feb.17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2679192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Claude Sonnet 4.6 全面可用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3741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性价比旗舰，适合高频日常编码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6576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在 Chat、Agent 等场景均可选用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2624328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2624328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Feb.19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25912" y="2679192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5912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Gemini 3.1 Pro 公开预览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33741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Google 最新多模态大模型接入 Copilot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6576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支持长上下文与复杂推理任务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334256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4334256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4074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Mar.02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6392" y="4389120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36392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Retire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681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Gemini 3 Pro / GPT-5.1 弃用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084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将于近期从模型列表移除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3675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建议迁移至 Gemini 3.1 Pro / GPT-5.3-Codex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4334256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97680" y="4334256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44074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Mar.04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31152" y="4389120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31152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4681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Grok Code Fast 1 进入自动选择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5084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Copilot Free 计划的 Auto 模式纳入该模型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60" y="53675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xAI 模型首次进入 GitHub Copilot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2440" y="4334256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92440" y="4334256"/>
            <a:ext cx="54864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4074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25912" y="4389120"/>
            <a:ext cx="91440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5912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4681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Claude &amp; Codex 向 Business/Pro 开放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5084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原仅 Enterprise 可用模型下放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53675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更多用户可直接在对话中切换顶级模型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238636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6EDF3"/>
                </a:solidFill>
                <a:latin typeface="Segoe UI"/>
              </a:rPr>
              <a:t>GitHub.com 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98CA1"/>
                </a:solidFill>
                <a:latin typeface="Segoe UI"/>
              </a:rPr>
              <a:t>Web UI · Copilot Chat · Coding Agent ·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"/>
              </a:rPr>
              <a:t>03  GitHub.com 端  —  Web 与 Agent 深度融合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5156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9692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仓库 Agents 标签页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每个仓库新增 Agents 管理入口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可查看 / 配置 / 监控运行中的 Coding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9144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9692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GitHub MCP Server 新增 Projects 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MCP Server 新增 Projects &amp; OAuth Scope 过滤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第三方 AI 客户端可更细粒度接入 GitHub 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9144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9144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25912" y="9692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591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Claude &amp; Codex 在 github.com 公开预览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Web 版 Copilot Chat 直接可选 Claude / Codex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无需 IDE 即可使用顶级模型辅助开发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7432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7432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163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2" y="27980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27797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GitHub Agentic Workflows 技术预览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4930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可编排多步 Agent 任务流水线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7764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结合 Issue → PR → Review 自动化闭环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7432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27432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28163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27980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27797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Copilot 一键生成 PR 标题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4930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在 Web 创建 PR 时一键 AI 生成标题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7764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基于 diff 内容和提交历史自动归纳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27432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27432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8163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25912" y="27980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5912" y="27797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30906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Web 版联网搜索增强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34930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Copilot Chat 内置 Web Search 精度大幅提升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7764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可引用最新文档、Issue 与外部资料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5720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45720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6451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6392" y="46268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36392" y="4608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919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Mobile 实时通知 Coding Agent 进度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3218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GitHub Mobile 新增 Live Notification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6052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Agent 执行阶段变更实时推送手机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4572000"/>
            <a:ext cx="3657600" cy="1691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97680" y="4572000"/>
            <a:ext cx="54864" cy="1691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46451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31152" y="4626864"/>
            <a:ext cx="914400" cy="25603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31152" y="4608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4919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Agent 记忆（Agentic Memory）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53218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Agent 可跨会话保留用户偏好与项目上下文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60" y="56052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减少重复指令，提升长期任务连贯性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D29322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6EDF3"/>
                </a:solidFill>
                <a:latin typeface="Segoe UI"/>
              </a:rPr>
              <a:t>管理维度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98CA1"/>
                </a:solidFill>
                <a:latin typeface="Segoe UI"/>
              </a:rPr>
              <a:t>企业控制面  ·  合规指标  ·  CLI  ·  安全策略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EDF3"/>
                </a:solidFill>
                <a:latin typeface="Segoe UI"/>
              </a:rPr>
              <a:t>04  管理维度  —  企业治理与可观测性跃升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05156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914400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Jan.21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969264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Copilot CLI 规划功能 + Steer-as-you-go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CLI 支持任务拆解计划，执行中可随时调整方向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通过 GitHub CLI 直接安装 Copilot 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914400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969264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3115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Copilot CLI 支持 ACP 协议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Agent Communication Protocol 进入公开预览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支持跨工具链的标准化 Agent 通信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914400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914400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9875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Jan.29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725912" y="969264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5912" y="950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企业数据驻留版 Copilot 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66420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GHEC Data Residency 合规环境下的指标采集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9476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满足欧盟 / 特殊合规区域监管要求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24328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624328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36392" y="2679192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36392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GitHub Copilot CLI 正式发布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741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终端内自然语言命令解释与生成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6576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支持 Bash / PowerShell / Zsh 全平台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624328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2624328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1152" y="2679192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31152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企业 AI 控制面 &amp; Agent 控制平面 GA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3741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集中管控模型策略、网络访问与 Agent 权限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36576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细粒度 policy 设置，满足大型组织合规需求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2624328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92440" y="2624328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69748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25912" y="2679192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5912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971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内容排除 REST API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337413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通过 API 程序化配置文件/仓库的 Copilot 排除规则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6576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便于大规模自动化治理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334256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4334256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4074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Feb.27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36392" y="4389120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36392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GA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4681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Copilot 指标（Metrics）正式发布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084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覆盖代码建议采纳率、活跃用户等核心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3675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企业级 CLI 活动数据纳入统计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4334256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97680" y="4334256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34840" y="44074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Mar.02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31152" y="4389120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31152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Release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34840" y="4681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指标包含 Plan Mode 数据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60" y="5084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Plan Mode 使用情况单独统计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80560" y="53675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EMU 环境下用户名一致性修复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2440" y="4334256"/>
            <a:ext cx="3657600" cy="15727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92440" y="4334256"/>
            <a:ext cx="54864" cy="1572768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4074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98CA1"/>
                </a:solidFill>
                <a:latin typeface="Segoe UI"/>
              </a:rPr>
              <a:t>Mar.04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725912" y="4389120"/>
            <a:ext cx="914400" cy="256032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5912" y="43708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1117"/>
                </a:solidFill>
                <a:latin typeface="Segoe UI"/>
              </a:rPr>
              <a:t>Preview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4681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Segoe UI"/>
              </a:rPr>
              <a:t>Copilot Memory 对 Pro/Pro+ 默认开启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75320" y="5084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跨对话记忆默认激活，无需手动配置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75320" y="536752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98CA1"/>
                </a:solidFill>
                <a:latin typeface="Segoe UI"/>
              </a:rPr>
              <a:t>• 用户可随时在设置中关闭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7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Segoe UI"/>
              </a:rPr>
              <a:t>总结  / 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05156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557784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73152" cy="24688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Segoe UI"/>
              </a:rPr>
              <a:t>IDE 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6 项更新 · 覆盖 VS / JetBrains / Xcode / Eclipse / OpenCode
多顶级模型（Claude Opus / GPT-5.3-Codex）全面铺入 IDE
Visual Studio 率先支持直接委派 Coding Agent 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73152" cy="2468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155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Segoe UI"/>
              </a:rPr>
              <a:t>模型端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9 项更新 · GPT-5.2/5.3-Codex、Claude Opus/Sonnet 4.6、Gemini 3.1 Pro
Grok Code Fast 1 首次接入；Business/Pro 用户可用旗舰模型大幅扩展
模型弃用机制规范化，Gemini 3 Pro / GPT-5.1 退场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557784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73152" cy="246888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67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8636"/>
                </a:solidFill>
                <a:latin typeface="Segoe UI"/>
              </a:rPr>
              <a:t>GitHub.com 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24528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8 项更新 · Agentic Workflows、MCP Server、Agents 标签页全面推进
Web + Mobile 无缝衔接 Agent 执行进度（Live Notification）
PR 标题生成、Web Search 增强降低日常使用门槛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57784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73152" cy="2468880"/>
          </a:xfrm>
          <a:prstGeom prst="rect">
            <a:avLst/>
          </a:prstGeom>
          <a:solidFill>
            <a:srgbClr val="D2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7673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29322"/>
                </a:solidFill>
                <a:latin typeface="Segoe UI"/>
              </a:rPr>
              <a:t>管理维度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24528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6EDF3"/>
                </a:solidFill>
                <a:latin typeface="Segoe UI"/>
              </a:rPr>
              <a:t>9 项更新 · Enterprise AI 控制面 &amp; Agent 控制平面正式 GA
Copilot Metrics 体系完善：数据驻留、CLI、Plan Mode 全纳入
Copilot CLI GA + ACP 协议预览，终端 AI 工作流合规落地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